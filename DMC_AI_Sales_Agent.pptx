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0"/>
            <a:ext cx="1554480" cy="1280160"/>
          </a:xfrm>
          <a:prstGeom prst="rect">
            <a:avLst/>
          </a:prstGeom>
          <a:solidFill>
            <a:srgbClr val="4F46E5">
              <a:alpha val="25000"/>
            </a:srgbClr>
          </a:solidFill>
          <a:ln w="12700">
            <a:solidFill>
              <a:srgbClr val="4F46E5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0"/>
            <a:ext cx="1005840" cy="640080"/>
          </a:xfrm>
          <a:prstGeom prst="rect">
            <a:avLst/>
          </a:prstGeom>
          <a:solidFill>
            <a:srgbClr val="38BDF8">
              <a:alpha val="35000"/>
            </a:srgbClr>
          </a:solidFill>
          <a:ln w="12700">
            <a:solidFill>
              <a:srgbClr val="38BDF8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22960"/>
            <a:ext cx="2103120" cy="2926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PROYECTO FINAL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DMC AI Sales Agent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Generativo Multimodal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5029200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035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Autores: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Sebastian Chavarry  ·  Daniel Guardia  ·  Miguel Anay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511296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Programa: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 AI Engineer — DMC Institute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986784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Entorno: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 (T4 / A100)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2024  ·  DMC Institute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863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A RESOLVER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595360" y="0"/>
            <a:ext cx="548640" cy="9601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0" y="0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64008" cy="10972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1430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comercial de DMC Institute atiende manualmente consultas repetitivas sobre qué curso tomar, cuánto cuesta y qué perfil se necesita — principalmente vía WhatsApp y formulario de contacto. El visitante llega al sitio sin orientación inmediata personalizada y cae en un funnel pasivo.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26974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377440"/>
            <a:ext cx="2697480" cy="4114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3774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FUNNEL PASIVO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880360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→ esperar llamada → posible venta. Sin orientación inmediata al visitante.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0" y="2377440"/>
            <a:ext cx="26974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2377440"/>
            <a:ext cx="269748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23774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COBERTURA LIMITADA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2880360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8h/día, 6 días/semana. Sin atención nocturna ni fines de semana.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2377440"/>
            <a:ext cx="26974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2377440"/>
            <a:ext cx="2697480" cy="4114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23774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BAJA CONVERSION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72200" y="2880360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leads/día atendidos con una tasa de conversión del 12%.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863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DETALLADA DEL PROBLEMA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595360" y="0"/>
            <a:ext cx="548640" cy="9601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0" y="0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2103120" cy="1920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371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~4h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75488" y="2057400"/>
            <a:ext cx="18836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día dedicadas a calificación y orientación de leads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06040" y="1097280"/>
            <a:ext cx="2103120" cy="1920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1371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715768" y="2057400"/>
            <a:ext cx="18836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conversión actual del equipo comercial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108960"/>
            <a:ext cx="2103120" cy="1920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33832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75488" y="4069080"/>
            <a:ext cx="18836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por día atendidos de forma manual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606040" y="3108960"/>
            <a:ext cx="2103120" cy="1920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606040" y="33832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6d/sem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2715768" y="4069080"/>
            <a:ext cx="18836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— sin atención nocturna ni fines de semana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109728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097280"/>
            <a:ext cx="40233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1430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clave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92040" y="1655064"/>
            <a:ext cx="219456" cy="21945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6550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93792" y="1600200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recomendación de programa varía según la motivación, experiencia y urgencia del visitante.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92040" y="2478024"/>
            <a:ext cx="219456" cy="21945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4780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193792" y="2423160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altamente personalizado que hoy depende enteramente de personas.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92040" y="3300984"/>
            <a:ext cx="219456" cy="21945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3009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193792" y="3246120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captura estructurada de datos del lead.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92040" y="4123944"/>
            <a:ext cx="219456" cy="21945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41239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193792" y="4069080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Nombre, motivación, intención de compra y programa de interés se pierden en conversaciones de WhatsApp no sistematizadas.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863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 DE LA ELECCIÓN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595360" y="0"/>
            <a:ext cx="548640" cy="9601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0" y="0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09728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DMC Institute tiene 12+ programas con perfiles de comprador distintos — un caso de uso ideal para demostrar fine-tuning eficiente, prompt engineering y generación de imágenes en un contexto de negocio real.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20240"/>
            <a:ext cx="4114800" cy="34747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202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ALTA FRECUENCIA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33172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ocurre a diario con un patrón predecible y repetitivo, lo que facilita la recolección de datos.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92024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920240"/>
            <a:ext cx="4114800" cy="34747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9202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ALTO IMPACTO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33172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económico directo y medible en tasa de conversión, ingresos y tiempo del equipo comercial.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584448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584448"/>
            <a:ext cx="41148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5844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TAREA IDEAL PARA LLMs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995928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de motivación (salary / growth / company / academic) y generación de texto personalizado.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3584448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584448"/>
            <a:ext cx="411480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35844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METRICAS CONCRETAS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3995928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validar el pipeline con datos reales de negocio: leads/día, conversión, ROI estimable.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863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SOLUCIÓN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595360" y="0"/>
            <a:ext cx="548640" cy="9601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0" y="0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pipeline generativo multimodal estructurado en 4 notebooks: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463040"/>
            <a:ext cx="64008" cy="8686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" y="1664208"/>
            <a:ext cx="438912" cy="43891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6642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78992" y="1719072"/>
            <a:ext cx="1371600" cy="292608"/>
          </a:xfrm>
          <a:prstGeom prst="rect">
            <a:avLst/>
          </a:prstGeom>
          <a:solidFill>
            <a:srgbClr val="4F46E5">
              <a:alpha val="15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17190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46E5"/>
                </a:solidFill>
              </a:rPr>
              <a:t>Exploración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60320" y="1554480"/>
            <a:ext cx="6080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Exploración de arquitecturas de IA Generativa y experimentos de prompt engineering sobre modelos pre-entrenados de HuggingFace.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404872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404872"/>
            <a:ext cx="64008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1208" y="2606040"/>
            <a:ext cx="438912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2606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78992" y="2660904"/>
            <a:ext cx="1371600" cy="292608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8992" y="266090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Fine-Tuning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60320" y="2496312"/>
            <a:ext cx="6080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 200+ conversaciones de calificación de leads DMC + fine-tuning de Qwen2.5-7B-Instruct con Unsloth/LoRA.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3346704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346704"/>
            <a:ext cx="64008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1208" y="3547872"/>
            <a:ext cx="438912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" y="35478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078992" y="3602736"/>
            <a:ext cx="1371600" cy="292608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78992" y="36027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</a:rPr>
              <a:t>Image Gen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560320" y="3438144"/>
            <a:ext cx="6080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generación de imágenes con FLUX.1-schnell (Diffusers) para tarjetas visuales de recomendación de cursos.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65760" y="4288536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4288536"/>
            <a:ext cx="64008" cy="8686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1208" y="4489704"/>
            <a:ext cx="438912" cy="4389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" y="44897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078992" y="4544568"/>
            <a:ext cx="1371600" cy="292608"/>
          </a:xfrm>
          <a:prstGeom prst="rect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78992" y="45445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Pipeline Integrado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560320" y="4379976"/>
            <a:ext cx="6080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end-to-end: mensaje del usuario → clasificación de intención → recomendación → imagen del curso + estimación de ROI.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595360" y="137160"/>
            <a:ext cx="548640" cy="5486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0" y="137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23360" cy="274320"/>
          </a:xfrm>
          <a:prstGeom prst="rect">
            <a:avLst/>
          </a:prstGeom>
          <a:solidFill>
            <a:srgbClr val="4F46E5">
              <a:alpha val="25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412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FLUJO DE INFERENCIA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170432"/>
            <a:ext cx="4023360" cy="5669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7043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 del usuario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49424" y="1737360"/>
            <a:ext cx="73152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865376"/>
            <a:ext cx="4023360" cy="5669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865376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Clasificador de Intencion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(Qwen2.5-7B + LoRA fine-tuned)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49424" y="2432304"/>
            <a:ext cx="73152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560320"/>
            <a:ext cx="402336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56032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Motivacion · Score · Programa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49424" y="3127248"/>
            <a:ext cx="73152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255264"/>
            <a:ext cx="4023360" cy="5669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255264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Generador de Imagen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(FLUX.1-schnell via Diffusers)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49424" y="3822192"/>
            <a:ext cx="73152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950208"/>
            <a:ext cx="4023360" cy="5669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950208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visual del programa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841248"/>
            <a:ext cx="4114800" cy="274320"/>
          </a:xfrm>
          <a:prstGeom prst="rect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8412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FLUJO DE ENTRENAMIENTO (Plan B)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170432"/>
            <a:ext cx="4114800" cy="5669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1170432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DMC (200 ejemplos JSON)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84264" y="1737360"/>
            <a:ext cx="73152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1865376"/>
            <a:ext cx="4114800" cy="56692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1865376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Qwen2.5-7B-Instruct (base, 4-bit quantizado)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684264" y="2432304"/>
            <a:ext cx="73152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2560320"/>
            <a:ext cx="411480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256032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 r=16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684264" y="3127248"/>
            <a:ext cx="73152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3255264"/>
            <a:ext cx="4114800" cy="5669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3255264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con SFTTrainer (Unsloth)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684264" y="3822192"/>
            <a:ext cx="73152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3950208"/>
            <a:ext cx="4114800" cy="5669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3950208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LoRA exportado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863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Y TECNOLOGIAS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595360" y="0"/>
            <a:ext cx="548640" cy="9601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0" y="0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47548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5156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Base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0" y="1051560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Qwen2.5-7B-Instruct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178040" y="1143000"/>
            <a:ext cx="1463040" cy="2926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78040" y="11430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HuggingFace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563624"/>
            <a:ext cx="8412480" cy="475488"/>
          </a:xfrm>
          <a:prstGeom prst="rect">
            <a:avLst/>
          </a:prstGeom>
          <a:solidFill>
            <a:srgbClr val="EFF4F8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563624"/>
            <a:ext cx="64008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56362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1563624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Unsloth + LoRA (PEFT) + TRL SFTTrainer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78040" y="1655064"/>
            <a:ext cx="146304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78040" y="16550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Entrenamiento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075688"/>
            <a:ext cx="8412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075688"/>
            <a:ext cx="64008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07568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Quantizacion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468880" y="2075688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bitsandbytes (4-bit QLoRA)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178040" y="2167128"/>
            <a:ext cx="146304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78040" y="21671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Optimizacion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587752"/>
            <a:ext cx="8412480" cy="475488"/>
          </a:xfrm>
          <a:prstGeom prst="rect">
            <a:avLst/>
          </a:prstGeom>
          <a:solidFill>
            <a:srgbClr val="EFF4F8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587752"/>
            <a:ext cx="64008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58775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Generacion Imagenes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468880" y="2587752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FLUX.1-schnell (Diffusers)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178040" y="2679192"/>
            <a:ext cx="146304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78040" y="26791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Multimodal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3099816"/>
            <a:ext cx="8412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3099816"/>
            <a:ext cx="64008" cy="4754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09981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468880" y="3099816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conversaciones DMC — formato JSON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178040" y="3191256"/>
            <a:ext cx="146304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78040" y="31912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Datos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3611880"/>
            <a:ext cx="8412480" cy="475488"/>
          </a:xfrm>
          <a:prstGeom prst="rect">
            <a:avLst/>
          </a:prstGeom>
          <a:solidFill>
            <a:srgbClr val="EFF4F8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3611880"/>
            <a:ext cx="64008" cy="4754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361188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468880" y="3611880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— GPU T4 / A100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178040" y="3703320"/>
            <a:ext cx="1463040" cy="2926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78040" y="3703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Infraestructura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4123944"/>
            <a:ext cx="8412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123944"/>
            <a:ext cx="64008" cy="4754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412394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468880" y="4123944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178040" y="4215384"/>
            <a:ext cx="1463040" cy="2926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78040" y="421538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Lenguaje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65760" y="4636008"/>
            <a:ext cx="8412480" cy="475488"/>
          </a:xfrm>
          <a:prstGeom prst="rect">
            <a:avLst/>
          </a:prstGeom>
          <a:solidFill>
            <a:srgbClr val="EFF4F8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65760" y="4636008"/>
            <a:ext cx="64008" cy="47548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463600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Librerias Core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468880" y="4636008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 ·  Datasets  ·  PEFT  ·  Accelerate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178040" y="4727448"/>
            <a:ext cx="1463040" cy="2926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78040" y="47274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Ecosistema HF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MEJORAS FUTURAS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595360" y="137160"/>
            <a:ext cx="548640" cy="5486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0" y="137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08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4023360" cy="3474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686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Conclusiones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298448"/>
            <a:ext cx="4023360" cy="11795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298448"/>
            <a:ext cx="274320" cy="117957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298448"/>
            <a:ext cx="27432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1371600"/>
            <a:ext cx="3566160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con Unsloth/LoRA en dominio especifico mejora precision y reduce alucinaciones vs. prompting estandar.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551176"/>
            <a:ext cx="4023360" cy="11795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551176"/>
            <a:ext cx="274320" cy="117957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551176"/>
            <a:ext cx="27432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2624328"/>
            <a:ext cx="3566160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Generacion de imagenes (Diffusers) agrega una dimension multimodal real al pipeline de recomendacion de cursos.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803904"/>
            <a:ext cx="4023360" cy="11795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803904"/>
            <a:ext cx="274320" cy="117957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803904"/>
            <a:ext cx="27432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3877056"/>
            <a:ext cx="3566160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caso de uso de DMC Institute permite validar el pipeline en un contexto de negocio real con metricas concretas de conversion y ROI.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868680"/>
            <a:ext cx="4023360" cy="3474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8686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Mejoras Futuras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1298448"/>
            <a:ext cx="4023360" cy="7223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1298448"/>
            <a:ext cx="274320" cy="7223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298448"/>
            <a:ext cx="274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20640" y="1344168"/>
            <a:ext cx="356616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dataset a 1,000+ ejemplos con conversaciones multi-turno.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057400"/>
            <a:ext cx="4023360" cy="7223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2057400"/>
            <a:ext cx="274320" cy="7223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057400"/>
            <a:ext cx="274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20640" y="2103120"/>
            <a:ext cx="356616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RAG con brochures reales de DMC (S3 + embeddings).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2816352"/>
            <a:ext cx="4023360" cy="7223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2816352"/>
            <a:ext cx="274320" cy="7223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816352"/>
            <a:ext cx="274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120640" y="2862072"/>
            <a:ext cx="356616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del modelo de imagenes con DreamBooth.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3575304"/>
            <a:ext cx="4023360" cy="7223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3575304"/>
            <a:ext cx="274320" cy="7223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575304"/>
            <a:ext cx="274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4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120640" y="3621024"/>
            <a:ext cx="356616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Desplegar como agente conversacional en dmc.pe (FastAPI + Next.js).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54880" y="4334256"/>
            <a:ext cx="4023360" cy="7223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4334256"/>
            <a:ext cx="274320" cy="7223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4334256"/>
            <a:ext cx="274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5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120640" y="4379976"/>
            <a:ext cx="356616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modelos 3B para reducir latencia y costo en produccion.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DMC AI Sales Agent  ·  Diploma AI Engineer — DMC Institute  ·  2024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DMC AI Sales Agent — Pipeline Generativo Multimodal</dc:title>
  <dc:subject>PptxGenJS Presentation</dc:subject>
  <dc:creator>PptxGenJS</dc:creator>
  <cp:lastModifiedBy>PptxGenJS</cp:lastModifiedBy>
  <cp:revision>1</cp:revision>
  <dcterms:created xsi:type="dcterms:W3CDTF">2026-06-03T00:29:59Z</dcterms:created>
  <dcterms:modified xsi:type="dcterms:W3CDTF">2026-06-03T00:29:59Z</dcterms:modified>
</cp:coreProperties>
</file>